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79" y="0"/>
            <a:ext cx="4465015" cy="68580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649224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F1B548"/>
                </a:solidFill>
                <a:latin typeface="Aptos"/>
              </a:rPr>
              <a:t>PEDOMAN WAWANCARA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583680" cy="1508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Pemetaan Keluhan
Masyarakat di Lingkungan 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907792"/>
            <a:ext cx="621792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>
                <a:solidFill>
                  <a:srgbClr val="D5E2ED"/>
                </a:solidFill>
                <a:latin typeface="Aptos"/>
              </a:rPr>
              <a:t>Sebagai dasar perancangan website pengaduan warga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3749039"/>
            <a:ext cx="777240" cy="64008"/>
          </a:xfrm>
          <a:prstGeom prst="rect">
            <a:avLst/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041648"/>
            <a:ext cx="635508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Jalan Tuan Gunung Purba, Lingkungan IX
Kel. Sinaksak • Kec. Tapian Dolok • Kab. Simalungun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983480"/>
            <a:ext cx="59436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1">
                <a:solidFill>
                  <a:srgbClr val="ACC3D8"/>
                </a:solidFill>
                <a:latin typeface="Aptos"/>
              </a:rPr>
              <a:t>DISUSUN OLEH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266944"/>
            <a:ext cx="6537960" cy="1051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VIVIN WIDYA S. AMBARITA • 2302119
GADING AMARTADIPURA • 2302139
FARHAN BILLYAHSAN • 2302100
IRVAN HAVIS • 2302231  |  IRWAN SYAHPUTRA • 2302009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94192" y="5330952"/>
            <a:ext cx="2999232" cy="493776"/>
          </a:xfrm>
          <a:prstGeom prst="roundRect">
            <a:avLst>
              <a:gd name="adj" fmla="val 12000"/>
            </a:avLst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5449824"/>
            <a:ext cx="281635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142744"/>
                </a:solidFill>
                <a:latin typeface="Aptos"/>
              </a:rPr>
              <a:t>DOKUMENTASI LINGKUNGAN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594360"/>
            <a:ext cx="3493008" cy="530352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051560"/>
            <a:ext cx="288036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sz="1300" b="1">
                <a:solidFill>
                  <a:srgbClr val="F1B548"/>
                </a:solidFill>
                <a:latin typeface="Aptos"/>
              </a:rPr>
              <a:t>FOKUS KEGIATAN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691640"/>
            <a:ext cx="2880360" cy="1920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Dengar keluhan.
Catat kebutuhan.
Rancang solusi.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3977639"/>
            <a:ext cx="2148840" cy="6400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297680"/>
            <a:ext cx="2880360" cy="9144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sz="1200" b="0">
                <a:solidFill>
                  <a:srgbClr val="D5E2ED"/>
                </a:solidFill>
                <a:latin typeface="Aptos"/>
              </a:rPr>
              <a:t>Website pengaduan warga untuk membantu laporan lebih teratur dan mudah ditindaklanjuti.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070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Mengapa wawancara ini dilakukan?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PEDOMAN WAWANCARA • PENGADUAN MASYARAKAT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653796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59436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900" b="1">
                <a:solidFill>
                  <a:srgbClr val="142744"/>
                </a:solidFill>
                <a:latin typeface="Aptos"/>
              </a:rPr>
              <a:t>Konteks kegiatan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5852160" cy="1417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0">
                <a:solidFill>
                  <a:srgbClr val="26313F"/>
                </a:solidFill>
                <a:latin typeface="Aptos"/>
              </a:rPr>
              <a:t>Keluhan warga perlu dihimpun secara teratur agar masalah di lingkungan dapat diketahui, dicatat, dan ditindaklanjuti. Wawancara dengan Ketua RT menjadi langkah awal untuk memahami keluhan yang benar-benar terjadi dan cara penanganannya.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57607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008F96"/>
                </a:solidFill>
                <a:latin typeface="Aptos"/>
              </a:rPr>
              <a:t>Ruang lingkup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25196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215384"/>
            <a:ext cx="53035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Wilayah satu RT di Lingkungan 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599432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53035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Keluhan fasilitas dan lingkungan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4946904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910328"/>
            <a:ext cx="53035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Proses penerimaan pengaduan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5294376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5257800"/>
            <a:ext cx="53035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Kebutuhan website pengaduan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5358384"/>
            <a:ext cx="4069080" cy="493776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62088" y="5477256"/>
            <a:ext cx="3840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Kondisi gang pada malam hari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481328"/>
            <a:ext cx="4069080" cy="4370832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1874519"/>
            <a:ext cx="333756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sz="1400" b="1">
                <a:solidFill>
                  <a:srgbClr val="F1B548"/>
                </a:solidFill>
                <a:latin typeface="Aptos"/>
              </a:rPr>
              <a:t>ALUR KEGIATAN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2487168"/>
            <a:ext cx="438912" cy="438912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36992" y="2596896"/>
            <a:ext cx="329184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532888"/>
            <a:ext cx="25146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Wawancara Ketua 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7" y="3200400"/>
            <a:ext cx="438912" cy="438912"/>
          </a:xfrm>
          <a:prstGeom prst="roundRect">
            <a:avLst/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36992" y="3310128"/>
            <a:ext cx="329184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sz="900" b="1">
                <a:solidFill>
                  <a:srgbClr val="142744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246120"/>
            <a:ext cx="25146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Identifikasi keluhan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82127" y="3913632"/>
            <a:ext cx="438912" cy="438912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36992" y="4023360"/>
            <a:ext cx="329184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959352"/>
            <a:ext cx="25146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Tentukan kebutuhan warga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82127" y="4626864"/>
            <a:ext cx="438912" cy="438912"/>
          </a:xfrm>
          <a:prstGeom prst="roundRect">
            <a:avLst/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36992" y="4736592"/>
            <a:ext cx="329184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sz="900" b="1">
                <a:solidFill>
                  <a:srgbClr val="142744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672584"/>
            <a:ext cx="25146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Rancang website pengaduan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070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Tujuan dan Fokus Wawancara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Informasi yang ingin diperoleh dari Ketua 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PEDOMAN WAWANCARA • PENGADUAN MASYARAKAT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5230368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508760"/>
            <a:ext cx="118872" cy="1737360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719072"/>
            <a:ext cx="594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100" b="1">
                <a:solidFill>
                  <a:srgbClr val="008F96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709928"/>
            <a:ext cx="38862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700" b="1">
                <a:solidFill>
                  <a:srgbClr val="142744"/>
                </a:solidFill>
                <a:latin typeface="Aptos"/>
              </a:rPr>
              <a:t>Memetakan keluhan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185415"/>
            <a:ext cx="3886200" cy="7589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Mengetahui masalah yang paling sering disampaikan warga.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508760"/>
            <a:ext cx="5230368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54496" y="1508760"/>
            <a:ext cx="118872" cy="1737360"/>
          </a:xfrm>
          <a:prstGeom prst="roundRect">
            <a:avLst>
              <a:gd name="adj" fmla="val 12000"/>
            </a:avLst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1719072"/>
            <a:ext cx="594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100" b="1">
                <a:solidFill>
                  <a:srgbClr val="F1B54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709928"/>
            <a:ext cx="38862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700" b="1">
                <a:solidFill>
                  <a:srgbClr val="142744"/>
                </a:solidFill>
                <a:latin typeface="Aptos"/>
              </a:rPr>
              <a:t>Menentukan prioritas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185415"/>
            <a:ext cx="3886200" cy="7589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Mengidentifikasi masalah yang paling mendesak untuk ditangani.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30168"/>
            <a:ext cx="5230368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" y="3630168"/>
            <a:ext cx="118872" cy="1737360"/>
          </a:xfrm>
          <a:prstGeom prst="roundRect">
            <a:avLst>
              <a:gd name="adj" fmla="val 12000"/>
            </a:avLst>
          </a:prstGeom>
          <a:solidFill>
            <a:srgbClr val="E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3840480"/>
            <a:ext cx="594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100" b="1">
                <a:solidFill>
                  <a:srgbClr val="E3705E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3831335"/>
            <a:ext cx="38862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700" b="1">
                <a:solidFill>
                  <a:srgbClr val="142744"/>
                </a:solidFill>
                <a:latin typeface="Aptos"/>
              </a:rPr>
              <a:t>Memahami tindak lanjut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306824"/>
            <a:ext cx="3886200" cy="7589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Mengetahui cara laporan diterima, diteruskan, dan diselesaikan.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3630168"/>
            <a:ext cx="5230368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54496" y="3630168"/>
            <a:ext cx="118872" cy="173736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47104" y="3840480"/>
            <a:ext cx="594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100" b="1">
                <a:solidFill>
                  <a:srgbClr val="142744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3831335"/>
            <a:ext cx="38862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700" b="1">
                <a:solidFill>
                  <a:srgbClr val="142744"/>
                </a:solidFill>
                <a:latin typeface="Aptos"/>
              </a:rPr>
              <a:t>Merancang 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306824"/>
            <a:ext cx="3886200" cy="7589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Menentukan fitur yang sesuai dengan kebutuhan warga dan 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070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Identitas Narasumber dan Pembuka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Isi identitas saat wawancara berlangsung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PEDOMAN WAWANCARA • PENGADUAN MASYARAKAT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657600" cy="452628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73936"/>
            <a:ext cx="3063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F1B548"/>
                </a:solidFill>
                <a:latin typeface="Aptos"/>
              </a:rPr>
              <a:t>IDENTITAS NARASUMBER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3063240" cy="1508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Nama Ketua RT:
____________________
Hari/tanggal: 21 Oktober 2026
Waktu wawancara: 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56048"/>
            <a:ext cx="3017520" cy="6217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D5E2ED"/>
                </a:solidFill>
                <a:latin typeface="Aptos"/>
              </a:rPr>
              <a:t>Catat jawaban sesuai keterangan narasumber.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63040"/>
            <a:ext cx="694944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773936"/>
            <a:ext cx="62179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008F96"/>
                </a:solidFill>
                <a:latin typeface="Aptos"/>
              </a:rPr>
              <a:t>PERTANYAAN PEMBUKA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286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65192" y="2368296"/>
            <a:ext cx="292608" cy="210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008F96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13832" y="2276856"/>
            <a:ext cx="548640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26313F"/>
                </a:solidFill>
                <a:latin typeface="Aptos"/>
              </a:rPr>
              <a:t>Bagaimana kondisi lingkungan RT ini secara umum?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3364991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3447287"/>
            <a:ext cx="292608" cy="210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008F96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3355848"/>
            <a:ext cx="548640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26313F"/>
                </a:solidFill>
                <a:latin typeface="Aptos"/>
              </a:rPr>
              <a:t>Apa peran Ketua RT dalam menerima dan membantu menyelesaikan keluhan warga?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4443983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65192" y="4526279"/>
            <a:ext cx="292608" cy="210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008F96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2" y="4434840"/>
            <a:ext cx="548640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26313F"/>
                </a:solidFill>
                <a:latin typeface="Aptos"/>
              </a:rPr>
              <a:t>Bagaimana warga biasanya menyampaikan keluhan kepada Bapak/Ibu?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070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Pertanyaan Inti: Keluhan Warga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Gali masalah yang benar-benar terjadi; tidak semua kategori harus memiliki keluhan.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PEDOMAN WAWANCARA • PENGADUAN MASYARAKAT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3493008" cy="100584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306324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42744"/>
                </a:solidFill>
                <a:latin typeface="Aptos"/>
              </a:rPr>
              <a:t>Jalan gang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30632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Apakah ada bagian jalan rusak atau sulit dilalui?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481328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98848" y="1481328"/>
            <a:ext cx="3493008" cy="100584"/>
          </a:xfrm>
          <a:prstGeom prst="roundRect">
            <a:avLst>
              <a:gd name="adj" fmla="val 12000"/>
            </a:avLst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0016" y="1755648"/>
            <a:ext cx="306324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42744"/>
                </a:solidFill>
                <a:latin typeface="Aptos"/>
              </a:rPr>
              <a:t>Sampah &amp; kebersihan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194560"/>
            <a:ext cx="30632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Apakah ada masalah sampah atau kebersihan lingkungan?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1481328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39328" y="1481328"/>
            <a:ext cx="3493008" cy="100584"/>
          </a:xfrm>
          <a:prstGeom prst="roundRect">
            <a:avLst>
              <a:gd name="adj" fmla="val 12000"/>
            </a:avLst>
          </a:prstGeom>
          <a:solidFill>
            <a:srgbClr val="E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6" y="1755648"/>
            <a:ext cx="306324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42744"/>
                </a:solidFill>
                <a:latin typeface="Aptos"/>
              </a:rPr>
              <a:t>Parit &amp; drainase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194560"/>
            <a:ext cx="30632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Apakah parit tersumbat atau terjadi genangan air?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66160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3566160"/>
            <a:ext cx="3493008" cy="100584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840480"/>
            <a:ext cx="306324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42744"/>
                </a:solidFill>
                <a:latin typeface="Aptos"/>
              </a:rPr>
              <a:t>Penerangan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279392"/>
            <a:ext cx="30632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Apakah penerangan gang pada malam hari sudah memadai?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8848" y="3566160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98848" y="3566160"/>
            <a:ext cx="3493008" cy="100584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0016" y="3840480"/>
            <a:ext cx="306324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42744"/>
                </a:solidFill>
                <a:latin typeface="Aptos"/>
              </a:rPr>
              <a:t>Keamanan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4279392"/>
            <a:ext cx="30632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Apakah ada keluhan mengenai keamanan atau ketertiban?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328" y="3566160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39328" y="3566160"/>
            <a:ext cx="3493008" cy="100584"/>
          </a:xfrm>
          <a:prstGeom prst="roundRect">
            <a:avLst>
              <a:gd name="adj" fmla="val 12000"/>
            </a:avLst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40496" y="3840480"/>
            <a:ext cx="306324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42744"/>
                </a:solidFill>
                <a:latin typeface="Aptos"/>
              </a:rPr>
              <a:t>Air bersih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4279392"/>
            <a:ext cx="30632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Apakah warga mengalami kendala ketersediaan air bersih?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742432"/>
            <a:ext cx="10789920" cy="384048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824728"/>
            <a:ext cx="104241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008F96"/>
                </a:solidFill>
                <a:latin typeface="Aptos"/>
              </a:rPr>
              <a:t>Catat hanya keluhan yang dikonfirmasi oleh Ketua RT atau warga.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070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Memahami Dampak dan Prioritas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Pertanyaan lanjutan untuk memperjelas laporan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PEDOMAN WAWANCARA • PENGADUAN MASYARAKAT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990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" y="1517904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27632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508760"/>
            <a:ext cx="3749039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42744"/>
                </a:solidFill>
                <a:latin typeface="Aptos"/>
              </a:rPr>
              <a:t>Apa masalah yang paling mendesak?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508760"/>
            <a:ext cx="55778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6313F"/>
                </a:solidFill>
                <a:latin typeface="Aptos"/>
              </a:rPr>
              <a:t>Mengapa masalah tersebut perlu diprioritaskan?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22576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6112" y="244144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551176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432304"/>
            <a:ext cx="3749039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42744"/>
                </a:solidFill>
                <a:latin typeface="Aptos"/>
              </a:rPr>
              <a:t>Di mana dan sejak kapan terjadi?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432304"/>
            <a:ext cx="55778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6313F"/>
                </a:solidFill>
                <a:latin typeface="Aptos"/>
              </a:rPr>
              <a:t>Catat titik lokasi serta perkiraan waktu mulai.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46120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6112" y="3364991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474720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55848"/>
            <a:ext cx="3749039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42744"/>
                </a:solidFill>
                <a:latin typeface="Aptos"/>
              </a:rPr>
              <a:t>Siapa yang paling terdampak?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355848"/>
            <a:ext cx="55778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6313F"/>
                </a:solidFill>
                <a:latin typeface="Aptos"/>
              </a:rPr>
              <a:t>Catat dampak yang disampaikan narasumber.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6112" y="428853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398264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279392"/>
            <a:ext cx="3749039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42744"/>
                </a:solidFill>
                <a:latin typeface="Aptos"/>
              </a:rPr>
              <a:t>Pernah dilaporkan sebelumnya?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279392"/>
            <a:ext cx="55778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6313F"/>
                </a:solidFill>
                <a:latin typeface="Aptos"/>
              </a:rPr>
              <a:t>Kepada siapa dan bagaimana hasil tindak lanjutnya?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093208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6112" y="521208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321808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202936"/>
            <a:ext cx="3749039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42744"/>
                </a:solidFill>
                <a:latin typeface="Aptos"/>
              </a:rPr>
              <a:t>Ada keluhan lain?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5202936"/>
            <a:ext cx="55778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6313F"/>
                </a:solidFill>
                <a:latin typeface="Aptos"/>
              </a:rPr>
              <a:t>Beri ruang untuk masalah di luar kategori utama.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108192"/>
            <a:ext cx="10698480" cy="274320"/>
          </a:xfrm>
          <a:prstGeom prst="roundRect">
            <a:avLst>
              <a:gd name="adj" fmla="val 12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6144768"/>
            <a:ext cx="104241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>
                <a:solidFill>
                  <a:srgbClr val="606E7E"/>
                </a:solidFill>
                <a:latin typeface="Aptos"/>
              </a:rPr>
              <a:t>Jangan mencatat dugaan sebagai fakta; minta contoh kejadian nyata.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070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Penanganan Keluhan oleh 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Pahami alur yang berjalan saat ini dan kendalanya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PEDOMAN WAWANCARA • PENGADUAN MASYARAKAT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20574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25295" y="1536192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773936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57860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142744"/>
                </a:solidFill>
                <a:latin typeface="Aptos"/>
              </a:rPr>
              <a:t>Laporan diterima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127248"/>
            <a:ext cx="1755648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26313F"/>
                </a:solidFill>
                <a:latin typeface="Aptos"/>
              </a:rPr>
              <a:t>Bagaimana warga menyampaikan keluhan?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761488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400" b="1">
                <a:solidFill>
                  <a:srgbClr val="008F96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1874519"/>
            <a:ext cx="20574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57015" y="1536192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1773936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142744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257860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142744"/>
                </a:solidFill>
                <a:latin typeface="Aptos"/>
              </a:rPr>
              <a:t>Dicatat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127248"/>
            <a:ext cx="1755648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26313F"/>
                </a:solidFill>
                <a:latin typeface="Aptos"/>
              </a:rPr>
              <a:t>Apakah laporan ditulis atau disimpan?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4336" y="2761488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400" b="1">
                <a:solidFill>
                  <a:srgbClr val="008F96"/>
                </a:solidFill>
                <a:latin typeface="Apto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1874519"/>
            <a:ext cx="20574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888736" y="1536192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1773936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3" y="257860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142744"/>
                </a:solidFill>
                <a:latin typeface="Aptos"/>
              </a:rPr>
              <a:t>Diteruskan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3127248"/>
            <a:ext cx="1755648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26313F"/>
                </a:solidFill>
                <a:latin typeface="Aptos"/>
              </a:rPr>
              <a:t>Siapa yang dihubungi jika di luar kewenangan RT?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6" y="2761488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400" b="1">
                <a:solidFill>
                  <a:srgbClr val="008F96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2088" y="1874519"/>
            <a:ext cx="20574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0456" y="1536192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1773936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142744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0104" y="257860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142744"/>
                </a:solidFill>
                <a:latin typeface="Aptos"/>
              </a:rPr>
              <a:t>Ditindaklanjuti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127248"/>
            <a:ext cx="1755648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26313F"/>
                </a:solidFill>
                <a:latin typeface="Aptos"/>
              </a:rPr>
              <a:t>Apa hambatan penyelesaian keluhan?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761488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400" b="1">
                <a:solidFill>
                  <a:srgbClr val="008F96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93807" y="1874519"/>
            <a:ext cx="20574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52176" y="1536192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98480" y="1773936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1824" y="257860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142744"/>
                </a:solidFill>
                <a:latin typeface="Aptos"/>
              </a:rPr>
              <a:t>Diberi kabar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9255" y="3127248"/>
            <a:ext cx="1755648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26313F"/>
                </a:solidFill>
                <a:latin typeface="Aptos"/>
              </a:rPr>
              <a:t>Bagaimana warga mengetahui perkembangannya?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89204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" y="5129784"/>
            <a:ext cx="101498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>
                <a:solidFill>
                  <a:srgbClr val="008F96"/>
                </a:solidFill>
                <a:latin typeface="Aptos"/>
              </a:rPr>
              <a:t>Tujuan: memahami alur nyata yang sudah berjalan, bukan mengasumsikan proses penanganan.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070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Kebutuhan Website Pengaduan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Pertanyaan untuk menghubungkan hasil wawancara dengan rancangan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PEDOMAN WAWANCARA • PENGADUAN MASYARAKAT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4754880" cy="470916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" y="1664208"/>
            <a:ext cx="4279392" cy="457200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64792"/>
            <a:ext cx="4023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FORMULIR PENGADUAN WARGA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04288"/>
            <a:ext cx="3931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F1B548"/>
                </a:solidFill>
                <a:latin typeface="Aptos"/>
              </a:rPr>
              <a:t>Kategori keluhan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542032"/>
            <a:ext cx="3977639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2596896"/>
            <a:ext cx="370332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>
                <a:solidFill>
                  <a:srgbClr val="606E7E"/>
                </a:solidFill>
                <a:latin typeface="Aptos"/>
              </a:rPr>
              <a:t>Jalan / Sampah / Drainase / Lainnya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044952"/>
            <a:ext cx="3931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F1B548"/>
                </a:solidFill>
                <a:latin typeface="Aptos"/>
              </a:rPr>
              <a:t>Lokasi kejadian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282696"/>
            <a:ext cx="3977639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337560"/>
            <a:ext cx="370332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>
                <a:solidFill>
                  <a:srgbClr val="606E7E"/>
                </a:solidFill>
                <a:latin typeface="Aptos"/>
              </a:rPr>
              <a:t>Nama gang atau titik lokasi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85616"/>
            <a:ext cx="3931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F1B548"/>
                </a:solidFill>
                <a:latin typeface="Aptos"/>
              </a:rPr>
              <a:t>Uraian masalah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023360"/>
            <a:ext cx="3977639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078224"/>
            <a:ext cx="370332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>
                <a:solidFill>
                  <a:srgbClr val="606E7E"/>
                </a:solidFill>
                <a:latin typeface="Aptos"/>
              </a:rPr>
              <a:t>Jelaskan kondisi yang terjadi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526280"/>
            <a:ext cx="3931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F1B548"/>
                </a:solidFill>
                <a:latin typeface="Aptos"/>
              </a:rPr>
              <a:t>Foto &amp; waktu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764024"/>
            <a:ext cx="3977639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818888"/>
            <a:ext cx="370332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>
                <a:solidFill>
                  <a:srgbClr val="606E7E"/>
                </a:solidFill>
                <a:latin typeface="Aptos"/>
              </a:rPr>
              <a:t>Lampiran pendukung jika tersedia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440680"/>
            <a:ext cx="1920240" cy="393192"/>
          </a:xfrm>
          <a:prstGeom prst="roundRect">
            <a:avLst>
              <a:gd name="adj" fmla="val 12000"/>
            </a:avLst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5541264"/>
            <a:ext cx="1700784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142744"/>
                </a:solidFill>
                <a:latin typeface="Aptos"/>
              </a:rPr>
              <a:t>KIRIM LAPORAN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572768"/>
            <a:ext cx="5212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008F96"/>
                </a:solidFill>
                <a:latin typeface="Aptos"/>
              </a:rPr>
              <a:t>PERTANYAAN UNTUK NARASUMBER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2084831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71032" y="2185415"/>
            <a:ext cx="256032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>
                <a:solidFill>
                  <a:srgbClr val="008F96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75688"/>
            <a:ext cx="45720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Apakah website sederhana akan bermanfaat bagi warga?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2834639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71032" y="2935223"/>
            <a:ext cx="256032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>
                <a:solidFill>
                  <a:srgbClr val="008F96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825496"/>
            <a:ext cx="45720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Informasi apa yang wajib diisi saat membuat laporan?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3584448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71032" y="3685032"/>
            <a:ext cx="256032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>
                <a:solidFill>
                  <a:srgbClr val="008F96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575304"/>
            <a:ext cx="45720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Perlukah status: diterima, diproses, atau selesai?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4334256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71032" y="4434840"/>
            <a:ext cx="256032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>
                <a:solidFill>
                  <a:srgbClr val="008F96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325112"/>
            <a:ext cx="45720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Bagaimana Ketua RT sebaiknya menerima notifikasi?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97880" y="5084064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71032" y="5184648"/>
            <a:ext cx="256032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>
                <a:solidFill>
                  <a:srgbClr val="008F96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74920"/>
            <a:ext cx="45720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Apa saran atau harapan untuk website ini?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984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Bagian Website: Portal Warga Lk.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Ringkasan rancangan portal digital yang digabungkan dengan hasil wawancara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PRESENTASI WAWANCARA &amp; RANCANGAN WEBSITE PORTAL WARGA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44752"/>
            <a:ext cx="10881360" cy="1078992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24128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PORTAL WARGA LINGKUNGAN IX SINAKSAK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48256"/>
            <a:ext cx="10241280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100" b="0">
                <a:solidFill>
                  <a:srgbClr val="D7E4EE"/>
                </a:solidFill>
                <a:latin typeface="Aptos"/>
              </a:rPr>
              <a:t>Jl. TG. Purba • Kelurahan Sinaksak • Kecamatan Tapian Dolok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07792"/>
            <a:ext cx="2542032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2907792"/>
            <a:ext cx="2542032" cy="10972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3227832"/>
            <a:ext cx="2212848" cy="3931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>
                <a:solidFill>
                  <a:srgbClr val="142744"/>
                </a:solidFill>
                <a:latin typeface="Aptos"/>
              </a:rPr>
              <a:t>Informasi lingkungan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767328"/>
            <a:ext cx="2212848" cy="731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100" b="0">
                <a:solidFill>
                  <a:srgbClr val="26313F"/>
                </a:solidFill>
                <a:latin typeface="Aptos"/>
              </a:rPr>
              <a:t>Profil wilayah, fasilitas, dan partisipasi warga.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2907792"/>
            <a:ext cx="2542032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29584" y="2907792"/>
            <a:ext cx="2542032" cy="109728"/>
          </a:xfrm>
          <a:prstGeom prst="rect">
            <a:avLst/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94176" y="3227832"/>
            <a:ext cx="2212848" cy="3931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>
                <a:solidFill>
                  <a:srgbClr val="142744"/>
                </a:solidFill>
                <a:latin typeface="Aptos"/>
              </a:rPr>
              <a:t>Layanan administrasi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3767328"/>
            <a:ext cx="2212848" cy="731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100" b="0">
                <a:solidFill>
                  <a:srgbClr val="26313F"/>
                </a:solidFill>
                <a:latin typeface="Aptos"/>
              </a:rPr>
              <a:t>Panduan layanan dan pembuatan konsep permohonan.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2907792"/>
            <a:ext cx="2542032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45936" y="2907792"/>
            <a:ext cx="2542032" cy="109728"/>
          </a:xfrm>
          <a:prstGeom prst="rect">
            <a:avLst/>
          </a:prstGeom>
          <a:solidFill>
            <a:srgbClr val="E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3227832"/>
            <a:ext cx="2212848" cy="3931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>
                <a:solidFill>
                  <a:srgbClr val="142744"/>
                </a:solidFill>
                <a:latin typeface="Aptos"/>
              </a:rPr>
              <a:t>Pengaduan warga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767328"/>
            <a:ext cx="2212848" cy="731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100" b="0">
                <a:solidFill>
                  <a:srgbClr val="26313F"/>
                </a:solidFill>
                <a:latin typeface="Aptos"/>
              </a:rPr>
              <a:t>Form laporan dan nomor tiket simulasi.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2907792"/>
            <a:ext cx="2542032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62288" y="2907792"/>
            <a:ext cx="2542032" cy="10972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3227832"/>
            <a:ext cx="2212848" cy="3931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>
                <a:solidFill>
                  <a:srgbClr val="142744"/>
                </a:solidFill>
                <a:latin typeface="Aptos"/>
              </a:rPr>
              <a:t>Aspirasi &amp; kabar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767328"/>
            <a:ext cx="2212848" cy="731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100" b="0">
                <a:solidFill>
                  <a:srgbClr val="26313F"/>
                </a:solidFill>
                <a:latin typeface="Aptos"/>
              </a:rPr>
              <a:t>Saran warga, pengumuman, serta agenda kegiatan.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212080"/>
            <a:ext cx="10652760" cy="621792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385816"/>
            <a:ext cx="1028700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300" b="1">
                <a:solidFill>
                  <a:srgbClr val="008F96"/>
                </a:solidFill>
                <a:latin typeface="Aptos"/>
              </a:rPr>
              <a:t>Tujuan: memudahkan warga menemukan informasi dan menyampaikan kebutuhan dalam satu portal.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984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Fitur Website: Layanan Administrasi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Website menyediakan panduan dan konsep permohonan—bukan penerbitan surat resmi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PRESENTASI WAWANCARA &amp; RANCANGAN WEBSITE PORTAL WARGA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49300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3493008" cy="548640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709928"/>
            <a:ext cx="315468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Surat &amp; pengantar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59152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2322576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Surat pengantar 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89504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25296" y="2852928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Surat keterangan domisili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19856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25296" y="3383280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Pengantar SKCK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50208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25296" y="3913632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Pengantar nikah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1554480"/>
            <a:ext cx="349300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07992" y="1554480"/>
            <a:ext cx="3493008" cy="548640"/>
          </a:xfrm>
          <a:prstGeom prst="roundRect">
            <a:avLst/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72583" y="1709928"/>
            <a:ext cx="315468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500" b="1">
                <a:solidFill>
                  <a:srgbClr val="142744"/>
                </a:solidFill>
                <a:latin typeface="Aptos"/>
              </a:rPr>
              <a:t>Kependudukan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6592" y="2359152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488" y="2322576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Pindah / datang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2889504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47488" y="2852928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Kelahiran / kematian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36592" y="3419856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47488" y="3383280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Pengantar KTP-el / KK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36592" y="3950208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47488" y="3913632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Keterangan kehilangan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0183" y="1554480"/>
            <a:ext cx="349300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30183" y="1554480"/>
            <a:ext cx="3493008" cy="548640"/>
          </a:xfrm>
          <a:prstGeom prst="roundRect">
            <a:avLst/>
          </a:prstGeom>
          <a:solidFill>
            <a:srgbClr val="E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94776" y="1709928"/>
            <a:ext cx="315468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Usaha &amp; sosial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58784" y="2359152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69680" y="2322576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Surat keterangan usaha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58784" y="2889504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0" y="2852928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Izin kegiatan / keramaian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58784" y="3419856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69680" y="3383280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Surat keterangan tidak mampu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58784" y="3950208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69680" y="3913632"/>
            <a:ext cx="27432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Informasi bantuan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5257800"/>
            <a:ext cx="10744200" cy="64008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422392"/>
            <a:ext cx="1033272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200" b="1">
                <a:solidFill>
                  <a:srgbClr val="142744"/>
                </a:solidFill>
                <a:latin typeface="Aptos"/>
              </a:rPr>
              <a:t>Alur layanan: pilih layanan → baca persyaratan → isi data seperlunya → buat pratinjau konsep (.txt).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6035040"/>
            <a:ext cx="106070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000" b="0">
                <a:solidFill>
                  <a:srgbClr val="606E7E"/>
                </a:solidFill>
                <a:latin typeface="Aptos"/>
              </a:rPr>
              <a:t>Catatan: syarat resmi dan prosedur akhir harus dikonfirmasi kepada pengurus/kelurahan.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984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Fitur Website: Pengaduan dan Pelacakan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Fitur ini dirancang sebagai simulasi untuk mendemonstrasikan alur laporan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PRESENTASI WAWANCARA &amp; RANCANGAN WEBSITE PORTAL WARGA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1663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83080"/>
            <a:ext cx="4480560" cy="32918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500" b="1">
                <a:solidFill>
                  <a:srgbClr val="008F96"/>
                </a:solidFill>
                <a:latin typeface="Aptos"/>
              </a:rPr>
              <a:t>FORMULIR PENGADUAN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331720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5024" y="2295144"/>
            <a:ext cx="41148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300" b="0">
                <a:solidFill>
                  <a:srgbClr val="26313F"/>
                </a:solidFill>
                <a:latin typeface="Aptos"/>
              </a:rPr>
              <a:t>Lokasi kejadian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926079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5024" y="2889503"/>
            <a:ext cx="41148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300" b="0">
                <a:solidFill>
                  <a:srgbClr val="26313F"/>
                </a:solidFill>
                <a:latin typeface="Aptos"/>
              </a:rPr>
              <a:t>Kategori keluhan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520439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35024" y="3483863"/>
            <a:ext cx="41148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300" b="0">
                <a:solidFill>
                  <a:srgbClr val="26313F"/>
                </a:solidFill>
                <a:latin typeface="Aptos"/>
              </a:rPr>
              <a:t>Uraian kondisi dan dampak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114800"/>
            <a:ext cx="219456" cy="219456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5024" y="4078224"/>
            <a:ext cx="41148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300" b="0">
                <a:solidFill>
                  <a:srgbClr val="26313F"/>
                </a:solidFill>
                <a:latin typeface="Aptos"/>
              </a:rPr>
              <a:t>Tombol membuat tiket simulasi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983480"/>
            <a:ext cx="4389120" cy="530352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138928"/>
            <a:ext cx="4114800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100" b="1">
                <a:solidFill>
                  <a:srgbClr val="008F96"/>
                </a:solidFill>
                <a:latin typeface="Aptos"/>
              </a:rPr>
              <a:t>Contoh nomor: SNK-XXXXXX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481328"/>
            <a:ext cx="5303520" cy="452628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1783080"/>
            <a:ext cx="4617720" cy="32918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500" b="1">
                <a:solidFill>
                  <a:srgbClr val="F1B548"/>
                </a:solidFill>
                <a:latin typeface="Aptos"/>
              </a:rPr>
              <a:t>PELACAKAN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331720"/>
            <a:ext cx="384048" cy="384048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7104" y="2423160"/>
            <a:ext cx="27432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368296"/>
            <a:ext cx="374903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Diterima (simulasi)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990087"/>
            <a:ext cx="384048" cy="384048"/>
          </a:xfrm>
          <a:prstGeom prst="roundRect">
            <a:avLst/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47104" y="3081527"/>
            <a:ext cx="27432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900" b="1">
                <a:solidFill>
                  <a:srgbClr val="142744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026663"/>
            <a:ext cx="374903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Diverifikasi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648456"/>
            <a:ext cx="384048" cy="384048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47104" y="3739896"/>
            <a:ext cx="27432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685031"/>
            <a:ext cx="374903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Dalam penanganan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306824"/>
            <a:ext cx="384048" cy="384048"/>
          </a:xfrm>
          <a:prstGeom prst="roundRect">
            <a:avLst/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7104" y="4398264"/>
            <a:ext cx="27432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900" b="1">
                <a:solidFill>
                  <a:srgbClr val="142744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43400"/>
            <a:ext cx="374903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Selesai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166360"/>
            <a:ext cx="457200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000" b="0">
                <a:solidFill>
                  <a:srgbClr val="D7E4EE"/>
                </a:solidFill>
                <a:latin typeface="Aptos"/>
              </a:rPr>
              <a:t>Penting: tiket dan status tersimpan di perangkat/peramban pengguna saja; belum terkirim ke RT atau server.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984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Fitur Pendukung dan Batasan Prototipe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Bagian website yang melengkapi layanan warga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PRESENTASI WAWANCARA &amp; RANCANGAN WEBSITE PORTAL WARGA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0749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" y="1764792"/>
            <a:ext cx="502920" cy="502920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920240"/>
            <a:ext cx="32004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91639"/>
            <a:ext cx="3886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500" b="1">
                <a:solidFill>
                  <a:srgbClr val="142744"/>
                </a:solidFill>
                <a:latin typeface="Aptos"/>
              </a:rPr>
              <a:t>Aspirasi warga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039112"/>
            <a:ext cx="38862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000" b="0">
                <a:solidFill>
                  <a:srgbClr val="26313F"/>
                </a:solidFill>
                <a:latin typeface="Aptos"/>
              </a:rPr>
              <a:t>Form saran/masukan untuk pengembangan lingkungan.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70632"/>
            <a:ext cx="50749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6112" y="2999232"/>
            <a:ext cx="502920" cy="502920"/>
          </a:xfrm>
          <a:prstGeom prst="roundRect">
            <a:avLst/>
          </a:prstGeom>
          <a:solidFill>
            <a:srgbClr val="F1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154680"/>
            <a:ext cx="32004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000" b="1">
                <a:solidFill>
                  <a:srgbClr val="142744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926080"/>
            <a:ext cx="3886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500" b="1">
                <a:solidFill>
                  <a:srgbClr val="142744"/>
                </a:solidFill>
                <a:latin typeface="Aptos"/>
              </a:rPr>
              <a:t>Kabar &amp;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273552"/>
            <a:ext cx="38862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000" b="0">
                <a:solidFill>
                  <a:srgbClr val="26313F"/>
                </a:solidFill>
                <a:latin typeface="Aptos"/>
              </a:rPr>
              <a:t>Papan pengumuman dan kegiatan; isi perlu diperbarui admin.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005072"/>
            <a:ext cx="50749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6112" y="4233672"/>
            <a:ext cx="502920" cy="502920"/>
          </a:xfrm>
          <a:prstGeom prst="roundRect">
            <a:avLst/>
          </a:prstGeom>
          <a:solidFill>
            <a:srgbClr val="E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389120"/>
            <a:ext cx="320040" cy="14630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160520"/>
            <a:ext cx="3886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500" b="1">
                <a:solidFill>
                  <a:srgbClr val="142744"/>
                </a:solidFill>
                <a:latin typeface="Aptos"/>
              </a:rPr>
              <a:t>Profil &amp; kontak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507992"/>
            <a:ext cx="38862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000" b="0">
                <a:solidFill>
                  <a:srgbClr val="26313F"/>
                </a:solidFill>
                <a:latin typeface="Aptos"/>
              </a:rPr>
              <a:t>Informasi wilayah dan kontak resmi setelah diverifikasi.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536192"/>
            <a:ext cx="5303520" cy="420624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847088"/>
            <a:ext cx="45720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400" b="1">
                <a:solidFill>
                  <a:srgbClr val="F1B548"/>
                </a:solidFill>
                <a:latin typeface="Aptos"/>
              </a:rPr>
              <a:t>HAL YANG PERLU DIINGAT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2395728"/>
            <a:ext cx="219456" cy="219456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84848" y="2359152"/>
            <a:ext cx="420624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Website masih berupa prototipe/demonstrasi.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2990088"/>
            <a:ext cx="219456" cy="219456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84848" y="2953512"/>
            <a:ext cx="420624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Form pengaduan dan aspirasi tidak mengirim data ke server.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3952" y="3584448"/>
            <a:ext cx="219456" cy="219456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4848" y="3547872"/>
            <a:ext cx="420624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Belum ada akun admin atau basis data bersama.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4178808"/>
            <a:ext cx="219456" cy="219456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84848" y="4142232"/>
            <a:ext cx="420624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Informasi kontak, jadwal, dan pengumuman menunggu verifikasi.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3952" y="4773168"/>
            <a:ext cx="219456" cy="219456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84848" y="4736592"/>
            <a:ext cx="420624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Perlu persetujuan pengurus sebelum dipublikasikan sebagai layanan resmi.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989320"/>
            <a:ext cx="1060704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000" b="0">
                <a:solidFill>
                  <a:srgbClr val="606E7E"/>
                </a:solidFill>
                <a:latin typeface="Aptos"/>
              </a:rPr>
              <a:t>Pengembangan berikutnya: sambungkan ke penyimpanan data yang aman, panel admin, notifikasi, dan pengelolaan status laporan.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Dokumentasi Kondisi Lingkungan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5156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C0D3E2"/>
                </a:solidFill>
                <a:latin typeface="Aptos"/>
              </a:rPr>
              <a:t>Foto lapangan sebagai konteks observasi awal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53312"/>
            <a:ext cx="6766560" cy="4754880"/>
          </a:xfrm>
          <a:prstGeom prst="roundRect">
            <a:avLst>
              <a:gd name="adj" fmla="val 12000"/>
            </a:avLst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599DEE5A-E4B4-4524-A0C0-B75B11AD0D1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72184"/>
            <a:ext cx="6528816" cy="45171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53312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1E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719072"/>
            <a:ext cx="2971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F1B548"/>
                </a:solidFill>
                <a:latin typeface="Aptos"/>
              </a:rPr>
              <a:t>CATATAN DOKUMENTASI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267712"/>
            <a:ext cx="2971800" cy="1097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Foto menunjukkan gang pada malam hari dengan kondisi penerangan yang tampak minim pada area yang terlihat.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657600"/>
            <a:ext cx="2971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>
                <a:solidFill>
                  <a:srgbClr val="008F96"/>
                </a:solidFill>
                <a:latin typeface="Aptos"/>
              </a:rPr>
              <a:t>Yang perlu dikonfirmasi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041648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4005072"/>
            <a:ext cx="2560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>
                <a:solidFill>
                  <a:srgbClr val="E5EDF5"/>
                </a:solidFill>
                <a:latin typeface="Aptos"/>
              </a:rPr>
              <a:t>Apakah ini lokasi RT yang diwawancarai?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608576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4572000"/>
            <a:ext cx="2560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>
                <a:solidFill>
                  <a:srgbClr val="E5EDF5"/>
                </a:solidFill>
                <a:latin typeface="Aptos"/>
              </a:rPr>
              <a:t>Apakah penerangan menjadi keluhan warga?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175504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5138928"/>
            <a:ext cx="2560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>
                <a:solidFill>
                  <a:srgbClr val="E5EDF5"/>
                </a:solidFill>
                <a:latin typeface="Aptos"/>
              </a:rPr>
              <a:t>Titik dan waktu foto diambil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327648"/>
            <a:ext cx="10698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>
                <a:solidFill>
                  <a:srgbClr val="C0D3E2"/>
                </a:solidFill>
                <a:latin typeface="Aptos"/>
              </a:rPr>
              <a:t>Foto adalah dokumentasi visual; penyebab dan status keluhan harus dikonfirmasi melalui wawancara.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6070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500" b="1">
                <a:solidFill>
                  <a:srgbClr val="142744"/>
                </a:solidFill>
                <a:latin typeface="Aptos"/>
              </a:rPr>
              <a:t>Penutup dan Data yang Perlu Dicatat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606E7E"/>
                </a:solidFill>
                <a:latin typeface="Aptos"/>
              </a:rPr>
              <a:t>Pastikan hasil wawancara dapat digunakan untuk menyusun isi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61288"/>
            <a:ext cx="621792" cy="54864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200" b="1">
                <a:solidFill>
                  <a:srgbClr val="008F96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822960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606E7E"/>
                </a:solidFill>
                <a:latin typeface="Aptos"/>
              </a:rPr>
              <a:t>PEDOMAN WAWANCARA • PENGADUAN MASYARAKAT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463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800" b="0">
                <a:solidFill>
                  <a:srgbClr val="606E7E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16636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83080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1">
                <a:solidFill>
                  <a:srgbClr val="008F96"/>
                </a:solidFill>
                <a:latin typeface="Aptos"/>
              </a:rPr>
              <a:t>CHECKLIST DATA KELUHAN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304288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53312" y="2267712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Jenis dan uraian keluhan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807208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2770632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Lokasi kejadian yang jelas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310128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3273552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Sejak kapan masalah terjadi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813048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3312" y="3776472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Dampak bagi warga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315968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53312" y="4279392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Upaya yang sudah dilakukan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818888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53312" y="4782312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6313F"/>
                </a:solidFill>
                <a:latin typeface="Aptos"/>
              </a:rPr>
              <a:t>Status dan tindak lanjut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481328"/>
            <a:ext cx="5303520" cy="452628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810512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1">
                <a:solidFill>
                  <a:srgbClr val="F1B548"/>
                </a:solidFill>
                <a:latin typeface="Aptos"/>
              </a:rPr>
              <a:t>KALIMAT PENUTUP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23160"/>
            <a:ext cx="4526280" cy="1554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“Terima kasih atas waktu dan informasi yang Bapak/Ibu berikan. Hasil wawancara ini akan digunakan sebagai dasar perancangan website pengaduan masyarakat di lingkungan RT.”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434840"/>
            <a:ext cx="4526280" cy="6400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736592"/>
            <a:ext cx="452628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D5E2ED"/>
                </a:solidFill>
                <a:latin typeface="Aptos"/>
              </a:rPr>
              <a:t>Keluhan yang ditampilkan harus dikonfirmasi kepada narasumber atau warga.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1253</Words>
  <Application>Microsoft Office PowerPoint</Application>
  <PresentationFormat>Widescreen</PresentationFormat>
  <Paragraphs>258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1</cp:revision>
  <dcterms:created xsi:type="dcterms:W3CDTF">2013-01-27T09:14:16Z</dcterms:created>
  <dcterms:modified xsi:type="dcterms:W3CDTF">2026-10-21T16:50:23Z</dcterms:modified>
  <cp:category/>
</cp:coreProperties>
</file>